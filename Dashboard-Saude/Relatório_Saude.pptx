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25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1734229"/>
            <a:ext cx="4286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C40"/>
                </a:solidFill>
              </a:rPr>
              <a:t>Relatório Executivo Final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628650" y="3044075"/>
            <a:ext cx="4286250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 err="1">
                <a:solidFill>
                  <a:srgbClr val="4A90E2"/>
                </a:solidFill>
              </a:rPr>
              <a:t>Gestão</a:t>
            </a:r>
            <a:r>
              <a:rPr lang="en-US" sz="1704" dirty="0">
                <a:solidFill>
                  <a:srgbClr val="4A90E2"/>
                </a:solidFill>
              </a:rPr>
              <a:t> e Análise de Sinistros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628650" y="4040628"/>
            <a:ext cx="1518044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Data:</a:t>
            </a:r>
            <a:r>
              <a:rPr lang="en-US" sz="1050" dirty="0">
                <a:solidFill>
                  <a:srgbClr val="333333"/>
                </a:solidFill>
              </a:rPr>
              <a:t> 21 de Janeiro de 2026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628650" y="4378170"/>
            <a:ext cx="65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98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88" y="1128713"/>
            <a:ext cx="35718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2" dirty="0">
                <a:solidFill>
                  <a:srgbClr val="1A3C40"/>
                </a:solidFill>
              </a:rPr>
              <a:t>Métricas Principais (KPIs)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511350"/>
            <a:ext cx="2100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Total de Sinistros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285750" y="1709589"/>
            <a:ext cx="21002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5C4F"/>
                </a:solidFill>
              </a:rPr>
              <a:t>20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285750" y="2088207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Casos processados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471738" y="1511350"/>
            <a:ext cx="2100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Valor Autorizado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471738" y="1709589"/>
            <a:ext cx="21002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5C4F"/>
                </a:solidFill>
              </a:rPr>
              <a:t>R$ 10.866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2471738" y="2088207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Total aprovado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85750" y="2381101"/>
            <a:ext cx="2100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Economia Gerada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285750" y="2579340"/>
            <a:ext cx="21002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5C4F"/>
                </a:solidFill>
              </a:rPr>
              <a:t>R$ 90,00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285750" y="2957959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0,82% de retenção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2471738" y="2381101"/>
            <a:ext cx="2100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Custo Médio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2471738" y="2579340"/>
            <a:ext cx="21002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5C4F"/>
                </a:solidFill>
              </a:rPr>
              <a:t>R$ 543,30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2471738" y="2957959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Por sinistro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285750" y="3250853"/>
            <a:ext cx="2100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Ticket Máximo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85750" y="3449092"/>
            <a:ext cx="21002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5C4F"/>
                </a:solidFill>
              </a:rPr>
              <a:t>R$ 3.500</a:t>
            </a:r>
            <a:endParaRPr lang="en-US" sz="1808" dirty="0"/>
          </a:p>
        </p:txBody>
      </p:sp>
      <p:sp>
        <p:nvSpPr>
          <p:cNvPr id="18" name="Text 15"/>
          <p:cNvSpPr/>
          <p:nvPr/>
        </p:nvSpPr>
        <p:spPr>
          <a:xfrm>
            <a:off x="285750" y="3827711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Maior valor único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2471738" y="3250853"/>
            <a:ext cx="2100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Ticket Mínimo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471738" y="3449092"/>
            <a:ext cx="21002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5C4F"/>
                </a:solidFill>
              </a:rPr>
              <a:t>R$ 40,00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2471738" y="3827711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Menor valor único</a:t>
            </a:r>
            <a:endParaRPr lang="en-US" sz="727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044" y="1439912"/>
            <a:ext cx="3586163" cy="2157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024" y="-34380"/>
            <a:ext cx="941746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Aprovações e Status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976" y="1207739"/>
            <a:ext cx="2143125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86050" y="1525637"/>
            <a:ext cx="1353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C40"/>
                </a:solidFill>
              </a:rPr>
              <a:t>Sinistros com Redução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2686050" y="1661368"/>
            <a:ext cx="135340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A90E2"/>
                </a:solidFill>
              </a:rPr>
              <a:t>15,0% (3 casos)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2686050" y="2265015"/>
            <a:ext cx="1353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C40"/>
                </a:solidFill>
              </a:rPr>
              <a:t>Sinistros Negados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2686050" y="2400746"/>
            <a:ext cx="1353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A90E2"/>
                </a:solidFill>
              </a:rPr>
              <a:t>5,0% (1 caso)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686050" y="2731145"/>
            <a:ext cx="1353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C40"/>
                </a:solidFill>
              </a:rPr>
              <a:t>Redução Média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2686050" y="2866876"/>
            <a:ext cx="1353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A90E2"/>
                </a:solidFill>
              </a:rPr>
              <a:t>R$ 30,00</a:t>
            </a:r>
            <a:endParaRPr lang="en-US" sz="1397" dirty="0"/>
          </a:p>
        </p:txBody>
      </p:sp>
      <p:sp>
        <p:nvSpPr>
          <p:cNvPr id="11" name="Shape 7"/>
          <p:cNvSpPr/>
          <p:nvPr/>
        </p:nvSpPr>
        <p:spPr>
          <a:xfrm>
            <a:off x="3326986" y="3561605"/>
            <a:ext cx="3896581" cy="312874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3646170" y="3554609"/>
            <a:ext cx="3896581" cy="31287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42" i="1" dirty="0">
                <a:solidFill>
                  <a:srgbClr val="F2F4F6"/>
                </a:solidFill>
              </a:rPr>
              <a:t>"Processo de autorização bem calibrado e eficiente."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Top 5 Insights Críticos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00025" y="1439912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01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00075" y="1582787"/>
            <a:ext cx="44418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Cirurgias de Alto Custo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600075" y="1806029"/>
            <a:ext cx="444182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Representam 55,2% dos custos totais, concentrando a maior despesa da operação.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00025" y="2073194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02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600075" y="2216069"/>
            <a:ext cx="39678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Concentração Hospitalar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00075" y="2439312"/>
            <a:ext cx="396782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Hospital Central detém 64,9% do custo total. Risco crítico de dependência.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00025" y="2706477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03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600075" y="2849352"/>
            <a:ext cx="36312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Exames de Imagem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00075" y="3072594"/>
            <a:ext cx="363120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20% dos custos totais são gerados por Ressonâncias e Tomografias.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00025" y="3339759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04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600075" y="3482634"/>
            <a:ext cx="36652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Aprovação Técnica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00075" y="3705876"/>
            <a:ext cx="366527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Taxa excelente de 100% nos critérios de autorização bem calibrados.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00025" y="397304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05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600075" y="4115916"/>
            <a:ext cx="41265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Lacuna Geográfica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00075" y="4339158"/>
            <a:ext cx="41265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85% dos sinistros concentrados em SP, indicando falta de cobertura nacional.</a:t>
            </a:r>
            <a:endParaRPr lang="en-US" sz="834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4" y="1439912"/>
            <a:ext cx="257175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Análise por Procedimento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1668512"/>
            <a:ext cx="2098225" cy="307181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85750" y="1668512"/>
            <a:ext cx="2098225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4F6"/>
                </a:solidFill>
              </a:rPr>
              <a:t>Grupo de Procedimento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2383975" y="1668512"/>
            <a:ext cx="645114" cy="307181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383975" y="1668512"/>
            <a:ext cx="645114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4F6"/>
                </a:solidFill>
              </a:rPr>
              <a:t>Casos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3029090" y="1668512"/>
            <a:ext cx="1092184" cy="307181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029090" y="1668512"/>
            <a:ext cx="1092184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4F6"/>
                </a:solidFill>
              </a:rPr>
              <a:t>Custo Total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4121274" y="1668512"/>
            <a:ext cx="1136526" cy="307181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121274" y="1668512"/>
            <a:ext cx="1136526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4F6"/>
                </a:solidFill>
              </a:rPr>
              <a:t>Custo Médio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285750" y="1975693"/>
            <a:ext cx="2098225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Procedimentos Cirúrgicos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383975" y="1975693"/>
            <a:ext cx="645114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2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3029090" y="1975693"/>
            <a:ext cx="1092184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R$ 6.000,00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121274" y="1975693"/>
            <a:ext cx="1136526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R$ 3.000,00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285750" y="2306092"/>
            <a:ext cx="4972050" cy="333970"/>
          </a:xfrm>
          <a:prstGeom prst="rect">
            <a:avLst/>
          </a:prstGeom>
          <a:solidFill>
            <a:srgbClr val="E8EB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85750" y="2306092"/>
            <a:ext cx="2098225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Exames de Imagem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383975" y="2306092"/>
            <a:ext cx="64511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3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029090" y="2306092"/>
            <a:ext cx="109218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R$ 2.200,00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121274" y="2306092"/>
            <a:ext cx="1136526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R$ 733,33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285750" y="2640062"/>
            <a:ext cx="2098225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Internações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383975" y="2640062"/>
            <a:ext cx="64511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2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029090" y="2640062"/>
            <a:ext cx="109218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R$ 1.050,00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121274" y="2640062"/>
            <a:ext cx="1136526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R$ 525,00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285750" y="2974032"/>
            <a:ext cx="4972050" cy="333970"/>
          </a:xfrm>
          <a:prstGeom prst="rect">
            <a:avLst/>
          </a:prstGeom>
          <a:solidFill>
            <a:srgbClr val="E8EB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285750" y="2974032"/>
            <a:ext cx="2098225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Consultas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2383975" y="2974032"/>
            <a:ext cx="64511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6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3029090" y="2974032"/>
            <a:ext cx="109218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R$ 1.040,00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121274" y="2974032"/>
            <a:ext cx="1136526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R$ 173,33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285750" y="3308003"/>
            <a:ext cx="2098225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Outros (Lab, Fisio, Odonto)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2383975" y="3308003"/>
            <a:ext cx="64511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7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3029090" y="3308003"/>
            <a:ext cx="1092184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R$ 576,00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4121274" y="3308003"/>
            <a:ext cx="1136526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R$ 82,28</a:t>
            </a:r>
            <a:endParaRPr lang="en-US" sz="834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56" y="1525637"/>
            <a:ext cx="32146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64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Análise de Prestadores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525637"/>
            <a:ext cx="4972050" cy="21074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57188" y="3847356"/>
            <a:ext cx="924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Hospital Central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4119488" y="3847356"/>
            <a:ext cx="10668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5C4F"/>
                </a:solidFill>
              </a:rPr>
              <a:t>R$ 7.050,00 (64,9%)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357188" y="4224189"/>
            <a:ext cx="11833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Imagem Diagnóstica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119488" y="4224189"/>
            <a:ext cx="10668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5C4F"/>
                </a:solidFill>
              </a:rPr>
              <a:t>R$ 2.200,00 (20,2%)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357188" y="4601021"/>
            <a:ext cx="964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3C40"/>
                </a:solidFill>
              </a:rPr>
              <a:t>Clínica São Paulo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4184842" y="4601021"/>
            <a:ext cx="10015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5C4F"/>
                </a:solidFill>
              </a:rPr>
              <a:t>R$ 1.040,00 (9,6%)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285750" y="4906417"/>
            <a:ext cx="4972050" cy="350044"/>
          </a:xfrm>
          <a:prstGeom prst="rect">
            <a:avLst/>
          </a:prstGeom>
          <a:solidFill>
            <a:srgbClr val="E65C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285750" y="4906417"/>
            <a:ext cx="4972050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4F6"/>
                </a:solidFill>
              </a:rPr>
              <a:t>⚠️ Alerta de Concentração Crítica: Hospital Central</a:t>
            </a:r>
            <a:endParaRPr lang="en-US" sz="68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556" y="1525637"/>
            <a:ext cx="32146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Distribuição Geográfica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789956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São Paulo (SP)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85750" y="2036415"/>
            <a:ext cx="39290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A90E2"/>
                </a:solidFill>
              </a:rPr>
              <a:t>79,8%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2445395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17 casos | R$ 8.666,00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85750" y="2936528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Rio de Janeiro (RJ)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85750" y="3182987"/>
            <a:ext cx="39290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A90E2"/>
                </a:solidFill>
              </a:rPr>
              <a:t>20,2%</a:t>
            </a:r>
            <a:endParaRPr lang="en-US" sz="2121" dirty="0"/>
          </a:p>
        </p:txBody>
      </p:sp>
      <p:sp>
        <p:nvSpPr>
          <p:cNvPr id="9" name="Text 6"/>
          <p:cNvSpPr/>
          <p:nvPr/>
        </p:nvSpPr>
        <p:spPr>
          <a:xfrm>
            <a:off x="285750" y="3591967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3 casos | R$ 2.200,00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85750" y="4083100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Outras Regiões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85750" y="4329559"/>
            <a:ext cx="39290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A90E2"/>
                </a:solidFill>
              </a:rPr>
              <a:t>0,0%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285750" y="4738539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Lacuna crítica de cobertura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643438" y="1668512"/>
            <a:ext cx="4500563" cy="3474988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929188" y="2319458"/>
            <a:ext cx="3929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Ação Estratégica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4929188" y="2946322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2F4F6"/>
                </a:solidFill>
              </a:rPr>
              <a:t>A concentração massiva em SP limita a competitividade e aumenta o risco operacional.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29188" y="3689272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2F4F6"/>
                </a:solidFill>
              </a:rPr>
              <a:t>Meta:</a:t>
            </a:r>
            <a:r>
              <a:rPr lang="en-US" sz="1050" dirty="0">
                <a:solidFill>
                  <a:srgbClr val="F2F4F6"/>
                </a:solidFill>
              </a:rPr>
              <a:t> Expandir rede credenciada para MG, DF e BA para diversificar o risco e aumentar a capilaridade.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4929188" y="4432222"/>
            <a:ext cx="3929063" cy="250031"/>
          </a:xfrm>
          <a:prstGeom prst="rect">
            <a:avLst/>
          </a:prstGeom>
          <a:solidFill>
            <a:srgbClr val="E65C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929188" y="4432222"/>
            <a:ext cx="3929063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4F6"/>
                </a:solidFill>
              </a:rPr>
              <a:t>Prioridade P1: Expansão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37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Análise por Plano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732806"/>
            <a:ext cx="4214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Plano Premium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285750" y="1998911"/>
            <a:ext cx="125593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R$ 1.222,50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3459305" y="2138214"/>
            <a:ext cx="10412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Custo Médio | 4 casos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643438" y="1732806"/>
            <a:ext cx="4214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Plano Intermediário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643438" y="1998911"/>
            <a:ext cx="10600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R$ 627,58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7816993" y="2138214"/>
            <a:ext cx="10412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Custo Médio | 6 casos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50558" y="2608958"/>
            <a:ext cx="4214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C40"/>
                </a:solidFill>
              </a:rPr>
              <a:t>Plano Básico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50558" y="2856161"/>
            <a:ext cx="10600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65C4F"/>
                </a:solidFill>
              </a:rPr>
              <a:t>R$ 207,58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3405013" y="2993306"/>
            <a:ext cx="10412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Custo Médio | 6 casos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285750" y="3454450"/>
            <a:ext cx="8572500" cy="746522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285750" y="3454450"/>
            <a:ext cx="57150" cy="746522"/>
          </a:xfrm>
          <a:prstGeom prst="rect">
            <a:avLst/>
          </a:prstGeom>
          <a:solidFill>
            <a:srgbClr val="E65C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85750" y="3454450"/>
            <a:ext cx="8572500" cy="746522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2F4F6"/>
                </a:solidFill>
              </a:rPr>
              <a:t>Observação Estratégica:</a:t>
            </a:r>
            <a:r>
              <a:rPr lang="en-US" sz="1050" dirty="0">
                <a:solidFill>
                  <a:srgbClr val="F2F4F6"/>
                </a:solidFill>
              </a:rPr>
              <a:t> O Plano Premium apresenta o maior ticket médio devido à complexidade dos casos e maior cobertura, exigindo monitoramento rigoroso de procedimentos de alta complexidade.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Tendências de Utilização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2601441"/>
            <a:ext cx="3701774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218" b="1" dirty="0">
                <a:solidFill>
                  <a:srgbClr val="E65C4F"/>
                </a:solidFill>
              </a:rPr>
              <a:t>+22%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285750" y="3530129"/>
            <a:ext cx="37017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C40"/>
                </a:solidFill>
              </a:rPr>
              <a:t>Crescimento Mensal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85750" y="3906962"/>
            <a:ext cx="37017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Aumento de sinistros entre Janeiro e Fevereiro de 2024.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01887" y="1825675"/>
            <a:ext cx="42563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Sazonalidade e Demanda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601887" y="2168575"/>
            <a:ext cx="4256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 padrão de crescimento indica a necessidade de monitoramento contínuo para prever picos de utilização e ajustar a rede.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601887" y="3054400"/>
            <a:ext cx="42563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Eficiência Diagnóstica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601887" y="3397300"/>
            <a:ext cx="4256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60% dos custos concentrados em exames de imagem sugerem uma lacuna na atenção primária e triagem de casos.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416149" y="4268837"/>
            <a:ext cx="4442101" cy="369689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416149" y="4268837"/>
            <a:ext cx="444210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4F6"/>
                </a:solidFill>
              </a:rPr>
              <a:t>Ação: Implementar Telemedicina para Triagem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Eficiência e Retenção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825675"/>
            <a:ext cx="35329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Taxa de Redução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85750" y="2072134"/>
            <a:ext cx="353291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A90E2"/>
                </a:solidFill>
              </a:rPr>
              <a:t>27%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2652564"/>
            <a:ext cx="35329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Sinistros com ajuste de valor via auditoria.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85750" y="3365153"/>
            <a:ext cx="35329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Conformidade Técnica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85750" y="3611612"/>
            <a:ext cx="353291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A90E2"/>
                </a:solidFill>
              </a:rPr>
              <a:t>100%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285750" y="4192042"/>
            <a:ext cx="35329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Aprovação técnica e uso correto da rede.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119659" y="1668572"/>
            <a:ext cx="4896706" cy="3474988"/>
          </a:xfrm>
          <a:prstGeom prst="rect">
            <a:avLst/>
          </a:prstGeom>
          <a:solidFill>
            <a:srgbClr val="E8EB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9058275" y="1668512"/>
            <a:ext cx="85725" cy="3474988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72000" y="2388747"/>
            <a:ext cx="4286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3C40"/>
                </a:solidFill>
              </a:rPr>
              <a:t>Análise de Auditoria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4572000" y="2919171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5C4F"/>
                </a:solidFill>
              </a:rPr>
              <a:t>→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750594" y="2933458"/>
            <a:ext cx="10946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Economia Direta: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50594" y="3151874"/>
            <a:ext cx="3949573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R$ 150,00 retidos através de auditoria rigorosa em exames de alto custo.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580096" y="3445783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5C4F"/>
                </a:solidFill>
              </a:rPr>
              <a:t>→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758341" y="3455473"/>
            <a:ext cx="8215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Uso da Rede: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791879" y="3630495"/>
            <a:ext cx="376698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conformidade total indica que os beneficiários estão seguindo os protocolos estabelecidos.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543552" y="4109116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5C4F"/>
                </a:solidFill>
              </a:rPr>
              <a:t>→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758341" y="4109116"/>
            <a:ext cx="1012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Recomendação: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750594" y="4313830"/>
            <a:ext cx="3655647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Manter os critérios atuais de auditoria para Ressonância e Tomografia para evitar desperdícios.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Recomendações Imediatas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667926"/>
            <a:ext cx="4972050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5C4F"/>
                </a:solidFill>
              </a:rPr>
              <a:t>Prioridade P0 (Crítica)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285750" y="2080478"/>
            <a:ext cx="4972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Renegociação: Hospital Central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85750" y="2362656"/>
            <a:ext cx="4972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Reduzir a dependência (64,9% do custo) e buscar melhores tabelas. Prazo: Imediato.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285750" y="2641262"/>
            <a:ext cx="4972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Fluxo de Pré-autorização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85750" y="2923440"/>
            <a:ext cx="4972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Implementar aprovação obrigatória para cirurgias &gt; R$ 2.000. Prazo: 25/01/2026.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285750" y="3465779"/>
            <a:ext cx="4972050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5C4F"/>
                </a:solidFill>
              </a:rPr>
              <a:t>Prioridade P1 (Alta)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85750" y="3878331"/>
            <a:ext cx="4972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Expansão Geográfica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85750" y="4160509"/>
            <a:ext cx="4972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Credenciar prestadores em MG, DF e BA para aumentar cobertura. Prazo: 21/02/2026.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85750" y="4439115"/>
            <a:ext cx="4972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C40"/>
                </a:solidFill>
              </a:rPr>
              <a:t>Pacotes de Imagem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85750" y="4721293"/>
            <a:ext cx="4972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Negociar valores fixos para Ressonância e Tomografia. Prazo: 21/02/2026.</a:t>
            </a:r>
            <a:endParaRPr lang="en-US" sz="78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56" y="1525637"/>
            <a:ext cx="32146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44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Estratégia de Médio Prazo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848948"/>
            <a:ext cx="4972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Programa de Prevenção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285750" y="2184704"/>
            <a:ext cx="49720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Implementar iniciativas de wellness e telemedicina para reduzir o volume de consultas presenciais em 20% através de triagem digital eficiente.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285750" y="3100946"/>
            <a:ext cx="4972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Dashboard em Tempo Real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285750" y="3436702"/>
            <a:ext cx="49720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Finalizar a integração completa no Power BI para monitoramento contínuo de KPIs e alertas automáticos de desvios de custo.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285750" y="4352944"/>
            <a:ext cx="4972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Visibilidade e Dados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285750" y="4688700"/>
            <a:ext cx="49720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Garantir que a tomada de decisão seja baseada em dados atualizados semanalmente, permitindo ajustes rápidos na rede credenciada.</a:t>
            </a:r>
            <a:endParaRPr lang="en-US" sz="888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56" y="1597075"/>
            <a:ext cx="32146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Monitoramento de KPIs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1811387"/>
            <a:ext cx="3341015" cy="369689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85750" y="1811387"/>
            <a:ext cx="3341015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4F6"/>
                </a:solidFill>
              </a:rPr>
              <a:t>Indicador (KPI)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3626765" y="1811387"/>
            <a:ext cx="2208758" cy="369689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626765" y="1811387"/>
            <a:ext cx="220875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4F6"/>
                </a:solidFill>
              </a:rPr>
              <a:t>Valor Atual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835523" y="1811387"/>
            <a:ext cx="1631063" cy="369689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835523" y="1811387"/>
            <a:ext cx="1631063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4F6"/>
                </a:solidFill>
              </a:rPr>
              <a:t>Meta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7466586" y="1811387"/>
            <a:ext cx="1391664" cy="369689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466586" y="1811387"/>
            <a:ext cx="1391664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4F6"/>
                </a:solidFill>
              </a:rPr>
              <a:t>Status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85750" y="2181076"/>
            <a:ext cx="3341015" cy="4679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Taxa de Aprovação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626765" y="2181076"/>
            <a:ext cx="2208758" cy="4679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100%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835523" y="2181076"/>
            <a:ext cx="1631063" cy="4679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&gt; 95%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7466586" y="2181076"/>
            <a:ext cx="1391664" cy="4679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7AE60"/>
                </a:solidFill>
              </a:rPr>
              <a:t>●</a:t>
            </a:r>
            <a:endParaRPr lang="en-US" sz="1269" dirty="0"/>
          </a:p>
        </p:txBody>
      </p:sp>
      <p:sp>
        <p:nvSpPr>
          <p:cNvPr id="16" name="Shape 13"/>
          <p:cNvSpPr/>
          <p:nvPr/>
        </p:nvSpPr>
        <p:spPr>
          <a:xfrm>
            <a:off x="285750" y="2648992"/>
            <a:ext cx="8572500" cy="471488"/>
          </a:xfrm>
          <a:prstGeom prst="rect">
            <a:avLst/>
          </a:prstGeom>
          <a:solidFill>
            <a:srgbClr val="E8EB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85750" y="2648992"/>
            <a:ext cx="3341015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Custo Médio/Sinistro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626765" y="2648992"/>
            <a:ext cx="2208758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R$ 543,30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835523" y="2648992"/>
            <a:ext cx="1631063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&lt; R$ 500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7466586" y="2648992"/>
            <a:ext cx="1391664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39C12"/>
                </a:solidFill>
              </a:rPr>
              <a:t>●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285750" y="3120479"/>
            <a:ext cx="3341015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Concentração Top 3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626765" y="3120479"/>
            <a:ext cx="2208758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94,9%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835523" y="3120479"/>
            <a:ext cx="1631063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&lt; 70%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7466586" y="3120479"/>
            <a:ext cx="1391664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E74C3C"/>
                </a:solidFill>
              </a:rPr>
              <a:t>●</a:t>
            </a:r>
            <a:endParaRPr lang="en-US" sz="1269" dirty="0"/>
          </a:p>
        </p:txBody>
      </p:sp>
      <p:sp>
        <p:nvSpPr>
          <p:cNvPr id="25" name="Shape 22"/>
          <p:cNvSpPr/>
          <p:nvPr/>
        </p:nvSpPr>
        <p:spPr>
          <a:xfrm>
            <a:off x="285750" y="3591967"/>
            <a:ext cx="8572500" cy="471488"/>
          </a:xfrm>
          <a:prstGeom prst="rect">
            <a:avLst/>
          </a:prstGeom>
          <a:solidFill>
            <a:srgbClr val="E8EB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285750" y="3591967"/>
            <a:ext cx="3341015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Cobertura (UFs)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3626765" y="3591967"/>
            <a:ext cx="2208758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2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835523" y="3591967"/>
            <a:ext cx="1631063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&gt; 10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7466586" y="3591967"/>
            <a:ext cx="1391664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E74C3C"/>
                </a:solidFill>
              </a:rPr>
              <a:t>●</a:t>
            </a:r>
            <a:endParaRPr lang="en-US" sz="1269" dirty="0"/>
          </a:p>
        </p:txBody>
      </p:sp>
      <p:sp>
        <p:nvSpPr>
          <p:cNvPr id="30" name="Text 27"/>
          <p:cNvSpPr/>
          <p:nvPr/>
        </p:nvSpPr>
        <p:spPr>
          <a:xfrm>
            <a:off x="285750" y="4063454"/>
            <a:ext cx="3341015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Sinistros/Beneficiário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3626765" y="4063454"/>
            <a:ext cx="2208758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2,0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835523" y="4063454"/>
            <a:ext cx="1631063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&lt; 1,5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7466586" y="4063454"/>
            <a:ext cx="1391664" cy="4714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E74C3C"/>
                </a:solidFill>
              </a:rPr>
              <a:t>●</a:t>
            </a:r>
            <a:endParaRPr lang="en-US" sz="126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2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86916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3C40"/>
                </a:solidFill>
              </a:rPr>
              <a:t>Conclusões e Próximos Passos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656066"/>
            <a:ext cx="4972050" cy="26431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Pontos Fortes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285750" y="2034685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034685"/>
            <a:ext cx="37243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Critérios de autorização técnica altamente eficazes (100% aprovação).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85750" y="2247212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2247212"/>
            <a:ext cx="30526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Estrutura de dados organizada para análise dimensional.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285750" y="245973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459738"/>
            <a:ext cx="28964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Boa diversidade de procedimentos e planos de saúde.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85750" y="3002719"/>
            <a:ext cx="4972050" cy="26431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Pontos de Atenção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285750" y="338133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28625" y="3381338"/>
            <a:ext cx="31410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Concentração crítica de custos no Hospital Central (64,9%).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85750" y="3593864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28625" y="3593864"/>
            <a:ext cx="32391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Custos cirúrgicos elevados impactando a sinistralidade total.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85750" y="3806391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28625" y="3806391"/>
            <a:ext cx="29168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Baixa capilaridade geográfica (apenas 2 UFs cobertas).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85750" y="4349372"/>
            <a:ext cx="4972050" cy="26431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C40"/>
                </a:solidFill>
              </a:rPr>
              <a:t>Próximos Passos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285750" y="472799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28625" y="4727990"/>
            <a:ext cx="2996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Contatar Hospital Central para renegociação de tabelas.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285750" y="4940517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28625" y="4940517"/>
            <a:ext cx="2839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Implementar fluxo de pré-autorização para cirurgias.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85750" y="5153044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65C4F"/>
                </a:solidFill>
              </a:rPr>
              <a:t>•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28625" y="5153044"/>
            <a:ext cx="23726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Iniciar plano de expansão para MG, DF e BA.</a:t>
            </a:r>
            <a:endParaRPr lang="en-US" sz="834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50" y="1525637"/>
            <a:ext cx="2857500" cy="28575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329238" y="4526012"/>
            <a:ext cx="3743325" cy="389334"/>
          </a:xfrm>
          <a:prstGeom prst="rect">
            <a:avLst/>
          </a:prstGeom>
          <a:solidFill>
            <a:srgbClr val="1A3C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5329238" y="4526012"/>
            <a:ext cx="3743325" cy="389334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2F4F6"/>
                </a:solidFill>
              </a:rPr>
              <a:t>Implementação Iniciada</a:t>
            </a:r>
            <a:endParaRPr lang="en-US" sz="885" dirty="0"/>
          </a:p>
        </p:txBody>
      </p:sp>
      <p:sp>
        <p:nvSpPr>
          <p:cNvPr id="28" name="Text 24"/>
          <p:cNvSpPr/>
          <p:nvPr/>
        </p:nvSpPr>
        <p:spPr>
          <a:xfrm>
            <a:off x="6391535" y="4986784"/>
            <a:ext cx="16187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5C4F"/>
                </a:solidFill>
              </a:rPr>
              <a:t>Próxima Revisão: 21/02/2026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913</Words>
  <Application>Microsoft Office PowerPoint</Application>
  <PresentationFormat>Apresentação na tela (16:9)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marcos cleytton</cp:lastModifiedBy>
  <cp:revision>2</cp:revision>
  <dcterms:created xsi:type="dcterms:W3CDTF">2026-01-22T19:30:37Z</dcterms:created>
  <dcterms:modified xsi:type="dcterms:W3CDTF">2026-01-22T19:41:01Z</dcterms:modified>
</cp:coreProperties>
</file>